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1a53738ce4bf0" /><Relationship Type="http://schemas.openxmlformats.org/officeDocument/2006/relationships/extended-properties" Target="/docProps/app.xml" Id="R790af0c39a214616" /><Relationship Type="http://schemas.openxmlformats.org/officeDocument/2006/relationships/officeDocument" Target="/ppt/presentation.xml" Id="R93e19bd65504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bf40c13b34ff2"/>
  </p:sldMasterIdLst>
  <p:notesMasterIdLst>
    <p:notesMasterId xmlns:r="http://schemas.openxmlformats.org/officeDocument/2006/relationships" r:id="R9fb49d28410a4664"/>
  </p:notesMasterIdLst>
  <p:sldIdLst>
    <p:sldId xmlns:r="http://schemas.openxmlformats.org/officeDocument/2006/relationships" id="256" r:id="R140d505cd0004111"/>
    <p:sldId xmlns:r="http://schemas.openxmlformats.org/officeDocument/2006/relationships" id="257" r:id="R3de7a05ad18a40de"/>
    <p:sldId xmlns:r="http://schemas.openxmlformats.org/officeDocument/2006/relationships" id="258" r:id="R59093d46704b4d93"/>
    <p:sldId xmlns:r="http://schemas.openxmlformats.org/officeDocument/2006/relationships" id="259" r:id="R12efeaeabb8148cc"/>
    <p:sldId xmlns:r="http://schemas.openxmlformats.org/officeDocument/2006/relationships" id="260" r:id="R57428dbae4f344b0"/>
    <p:sldId xmlns:r="http://schemas.openxmlformats.org/officeDocument/2006/relationships" id="261" r:id="Re54b981c420f4811"/>
    <p:sldId xmlns:r="http://schemas.openxmlformats.org/officeDocument/2006/relationships" id="262" r:id="Rc44d163a3e4e40c5"/>
    <p:sldId xmlns:r="http://schemas.openxmlformats.org/officeDocument/2006/relationships" id="263" r:id="R99edab1ac1204fbe"/>
    <p:sldId xmlns:r="http://schemas.openxmlformats.org/officeDocument/2006/relationships" id="264" r:id="R612ec865231844ff"/>
    <p:sldId xmlns:r="http://schemas.openxmlformats.org/officeDocument/2006/relationships" id="265" r:id="R6740b027ebf1411d"/>
    <p:sldId xmlns:r="http://schemas.openxmlformats.org/officeDocument/2006/relationships" id="266" r:id="R68aec9a408844f63"/>
    <p:sldId xmlns:r="http://schemas.openxmlformats.org/officeDocument/2006/relationships" id="267" r:id="Rac3ad9715b654997"/>
    <p:sldId xmlns:r="http://schemas.openxmlformats.org/officeDocument/2006/relationships" id="268" r:id="Rc34903a9d1264008"/>
    <p:sldId xmlns:r="http://schemas.openxmlformats.org/officeDocument/2006/relationships" id="269" r:id="Rfa7c858185154034"/>
    <p:sldId xmlns:r="http://schemas.openxmlformats.org/officeDocument/2006/relationships" id="270" r:id="R4be815b70a074f29"/>
    <p:sldId xmlns:r="http://schemas.openxmlformats.org/officeDocument/2006/relationships" id="271" r:id="R537e9af9cfa5465b"/>
    <p:sldId xmlns:r="http://schemas.openxmlformats.org/officeDocument/2006/relationships" id="272" r:id="R6b66bc3f074445c0"/>
    <p:sldId xmlns:r="http://schemas.openxmlformats.org/officeDocument/2006/relationships" id="273" r:id="Rf011b683070d4f5b"/>
    <p:sldId xmlns:r="http://schemas.openxmlformats.org/officeDocument/2006/relationships" id="274" r:id="R29362c0903204779"/>
    <p:sldId xmlns:r="http://schemas.openxmlformats.org/officeDocument/2006/relationships" id="275" r:id="Rbf17cd175d4c44c1"/>
    <p:sldId xmlns:r="http://schemas.openxmlformats.org/officeDocument/2006/relationships" id="276" r:id="R99fd3c8940a149e6"/>
    <p:sldId xmlns:r="http://schemas.openxmlformats.org/officeDocument/2006/relationships" id="277" r:id="R6232787420ad4663"/>
    <p:sldId xmlns:r="http://schemas.openxmlformats.org/officeDocument/2006/relationships" id="278" r:id="Rc258d9206efc45a5"/>
    <p:sldId xmlns:r="http://schemas.openxmlformats.org/officeDocument/2006/relationships" id="279" r:id="R80a7e73bd11b42d6"/>
    <p:sldId xmlns:r="http://schemas.openxmlformats.org/officeDocument/2006/relationships" id="280" r:id="R3d275abcdb564257"/>
    <p:sldId xmlns:r="http://schemas.openxmlformats.org/officeDocument/2006/relationships" id="281" r:id="R80a7ed7c98324c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c3a0536f949c8" /><Relationship Type="http://schemas.openxmlformats.org/officeDocument/2006/relationships/slideMaster" Target="/ppt/slideMasters/slideMaster1.xml" Id="Ra45bf40c13b34ff2" /><Relationship Type="http://schemas.openxmlformats.org/officeDocument/2006/relationships/notesMaster" Target="/ppt/notesMasters/notesMaster1.xml" Id="R9fb49d28410a4664" /><Relationship Type="http://schemas.openxmlformats.org/officeDocument/2006/relationships/presProps" Target="/ppt/presProps.xml" Id="R2a8f4f96309f42d3" /><Relationship Type="http://schemas.openxmlformats.org/officeDocument/2006/relationships/tableStyles" Target="/ppt/tableStyles.xml" Id="R823887acc0524b0e" /><Relationship Type="http://schemas.openxmlformats.org/officeDocument/2006/relationships/slide" Target="/ppt/slides/slide1.xml" Id="R140d505cd0004111" /><Relationship Type="http://schemas.openxmlformats.org/officeDocument/2006/relationships/slide" Target="/ppt/slides/slide2.xml" Id="R3de7a05ad18a40de" /><Relationship Type="http://schemas.openxmlformats.org/officeDocument/2006/relationships/slide" Target="/ppt/slides/slide3.xml" Id="R59093d46704b4d93" /><Relationship Type="http://schemas.openxmlformats.org/officeDocument/2006/relationships/slide" Target="/ppt/slides/slide4.xml" Id="R12efeaeabb8148cc" /><Relationship Type="http://schemas.openxmlformats.org/officeDocument/2006/relationships/slide" Target="/ppt/slides/slide5.xml" Id="R57428dbae4f344b0" /><Relationship Type="http://schemas.openxmlformats.org/officeDocument/2006/relationships/slide" Target="/ppt/slides/slide6.xml" Id="Re54b981c420f4811" /><Relationship Type="http://schemas.openxmlformats.org/officeDocument/2006/relationships/slide" Target="/ppt/slides/slide7.xml" Id="Rc44d163a3e4e40c5" /><Relationship Type="http://schemas.openxmlformats.org/officeDocument/2006/relationships/slide" Target="/ppt/slides/slide8.xml" Id="R99edab1ac1204fbe" /><Relationship Type="http://schemas.openxmlformats.org/officeDocument/2006/relationships/slide" Target="/ppt/slides/slide9.xml" Id="R612ec865231844ff" /><Relationship Type="http://schemas.openxmlformats.org/officeDocument/2006/relationships/slide" Target="/ppt/slides/slide10.xml" Id="R6740b027ebf1411d" /><Relationship Type="http://schemas.openxmlformats.org/officeDocument/2006/relationships/slide" Target="/ppt/slides/slide11.xml" Id="R68aec9a408844f63" /><Relationship Type="http://schemas.openxmlformats.org/officeDocument/2006/relationships/slide" Target="/ppt/slides/slide12.xml" Id="Rac3ad9715b654997" /><Relationship Type="http://schemas.openxmlformats.org/officeDocument/2006/relationships/slide" Target="/ppt/slides/slide13.xml" Id="Rc34903a9d1264008" /><Relationship Type="http://schemas.openxmlformats.org/officeDocument/2006/relationships/slide" Target="/ppt/slides/slide14.xml" Id="Rfa7c858185154034" /><Relationship Type="http://schemas.openxmlformats.org/officeDocument/2006/relationships/slide" Target="/ppt/slides/slide15.xml" Id="R4be815b70a074f29" /><Relationship Type="http://schemas.openxmlformats.org/officeDocument/2006/relationships/slide" Target="/ppt/slides/slide16.xml" Id="R537e9af9cfa5465b" /><Relationship Type="http://schemas.openxmlformats.org/officeDocument/2006/relationships/slide" Target="/ppt/slides/slide17.xml" Id="R6b66bc3f074445c0" /><Relationship Type="http://schemas.openxmlformats.org/officeDocument/2006/relationships/slide" Target="/ppt/slides/slide18.xml" Id="Rf011b683070d4f5b" /><Relationship Type="http://schemas.openxmlformats.org/officeDocument/2006/relationships/slide" Target="/ppt/slides/slide19.xml" Id="R29362c0903204779" /><Relationship Type="http://schemas.openxmlformats.org/officeDocument/2006/relationships/slide" Target="/ppt/slides/slide20.xml" Id="Rbf17cd175d4c44c1" /><Relationship Type="http://schemas.openxmlformats.org/officeDocument/2006/relationships/slide" Target="/ppt/slides/slide21.xml" Id="R99fd3c8940a149e6" /><Relationship Type="http://schemas.openxmlformats.org/officeDocument/2006/relationships/slide" Target="/ppt/slides/slide22.xml" Id="R6232787420ad4663" /><Relationship Type="http://schemas.openxmlformats.org/officeDocument/2006/relationships/slide" Target="/ppt/slides/slide23.xml" Id="Rc258d9206efc45a5" /><Relationship Type="http://schemas.openxmlformats.org/officeDocument/2006/relationships/slide" Target="/ppt/slides/slide24.xml" Id="R80a7e73bd11b42d6" /><Relationship Type="http://schemas.openxmlformats.org/officeDocument/2006/relationships/slide" Target="/ppt/slides/slide25.xml" Id="R3d275abcdb564257" /><Relationship Type="http://schemas.openxmlformats.org/officeDocument/2006/relationships/slide" Target="/ppt/slides/slide26.xml" Id="R80a7ed7c9832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6153549064e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1d018850df4f07" /><Relationship Type="http://schemas.openxmlformats.org/officeDocument/2006/relationships/notesMaster" Target="/ppt/notesMasters/notesMaster1.xml" Id="R852ffdccc30c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77db4e0cf3487d" /><Relationship Type="http://schemas.openxmlformats.org/officeDocument/2006/relationships/notesMaster" Target="/ppt/notesMasters/notesMaster1.xml" Id="R45840112487f4b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73d35cee394e48" /><Relationship Type="http://schemas.openxmlformats.org/officeDocument/2006/relationships/notesMaster" Target="/ppt/notesMasters/notesMaster1.xml" Id="R7de08bc234a040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11ee483dd34ae9" /><Relationship Type="http://schemas.openxmlformats.org/officeDocument/2006/relationships/notesMaster" Target="/ppt/notesMasters/notesMaster1.xml" Id="R1e824d7ba372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e848fa1534b89" /><Relationship Type="http://schemas.openxmlformats.org/officeDocument/2006/relationships/notesMaster" Target="/ppt/notesMasters/notesMaster1.xml" Id="Rd5c2e017b19b4d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52575c4a0b4009" /><Relationship Type="http://schemas.openxmlformats.org/officeDocument/2006/relationships/notesMaster" Target="/ppt/notesMasters/notesMaster1.xml" Id="R85d6fa494e2242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b91560aaae4a99" /><Relationship Type="http://schemas.openxmlformats.org/officeDocument/2006/relationships/notesMaster" Target="/ppt/notesMasters/notesMaster1.xml" Id="Ra35a7f60c79549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a12255e451495b" /><Relationship Type="http://schemas.openxmlformats.org/officeDocument/2006/relationships/notesMaster" Target="/ppt/notesMasters/notesMaster1.xml" Id="Rf8192eed242442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9c7ac1b1584e9a" /><Relationship Type="http://schemas.openxmlformats.org/officeDocument/2006/relationships/notesMaster" Target="/ppt/notesMasters/notesMaster1.xml" Id="Rb38b2897490b41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3e4b28d51d47fd" /><Relationship Type="http://schemas.openxmlformats.org/officeDocument/2006/relationships/notesMaster" Target="/ppt/notesMasters/notesMaster1.xml" Id="R4301736aa0614b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8ffe10f3aa42d6" /><Relationship Type="http://schemas.openxmlformats.org/officeDocument/2006/relationships/notesMaster" Target="/ppt/notesMasters/notesMaster1.xml" Id="Rc03c12b4b74145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e74e5441d04a41" /><Relationship Type="http://schemas.openxmlformats.org/officeDocument/2006/relationships/notesMaster" Target="/ppt/notesMasters/notesMaster1.xml" Id="Rad4cf5f034e148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4923e6a8c147a6" /><Relationship Type="http://schemas.openxmlformats.org/officeDocument/2006/relationships/notesMaster" Target="/ppt/notesMasters/notesMaster1.xml" Id="R4edcde6a892848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d6cf0d77734062" /><Relationship Type="http://schemas.openxmlformats.org/officeDocument/2006/relationships/notesMaster" Target="/ppt/notesMasters/notesMaster1.xml" Id="Rb795a45db65444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08df17fb9546f2" /><Relationship Type="http://schemas.openxmlformats.org/officeDocument/2006/relationships/notesMaster" Target="/ppt/notesMasters/notesMaster1.xml" Id="R8cc1c22cb7644f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088c9a4cbf4394" /><Relationship Type="http://schemas.openxmlformats.org/officeDocument/2006/relationships/notesMaster" Target="/ppt/notesMasters/notesMaster1.xml" Id="Ra46c0350fe0247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bee61784474a1f" /><Relationship Type="http://schemas.openxmlformats.org/officeDocument/2006/relationships/notesMaster" Target="/ppt/notesMasters/notesMaster1.xml" Id="R759e2163e0c04f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695b6cf62e425c" /><Relationship Type="http://schemas.openxmlformats.org/officeDocument/2006/relationships/notesMaster" Target="/ppt/notesMasters/notesMaster1.xml" Id="Red99249c2d854e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2441b3ca2642fa" /><Relationship Type="http://schemas.openxmlformats.org/officeDocument/2006/relationships/notesMaster" Target="/ppt/notesMasters/notesMaster1.xml" Id="R8bcc3df50c0b43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ccc9467ebb4cd0" /><Relationship Type="http://schemas.openxmlformats.org/officeDocument/2006/relationships/notesMaster" Target="/ppt/notesMasters/notesMaster1.xml" Id="R62f3fa6fa7b848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da81de8f43491d" /><Relationship Type="http://schemas.openxmlformats.org/officeDocument/2006/relationships/notesMaster" Target="/ppt/notesMasters/notesMaster1.xml" Id="Re500a2168f7b49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3a619db044461c" /><Relationship Type="http://schemas.openxmlformats.org/officeDocument/2006/relationships/notesMaster" Target="/ppt/notesMasters/notesMaster1.xml" Id="Ra880d0131bdc40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a44c4520404ce1" /><Relationship Type="http://schemas.openxmlformats.org/officeDocument/2006/relationships/notesMaster" Target="/ppt/notesMasters/notesMaster1.xml" Id="R0ac8f34faf1f47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1b9e45622f4ed6" /><Relationship Type="http://schemas.openxmlformats.org/officeDocument/2006/relationships/notesMaster" Target="/ppt/notesMasters/notesMaster1.xml" Id="Rfb1a4db9aad94b8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01a3c029c64a41" /><Relationship Type="http://schemas.openxmlformats.org/officeDocument/2006/relationships/notesMaster" Target="/ppt/notesMasters/notesMaster1.xml" Id="R3d090c48b91a47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ce98060ec61450a" /><Relationship Type="http://schemas.openxmlformats.org/officeDocument/2006/relationships/notesMaster" Target="/ppt/notesMasters/notesMaster1.xml" Id="R38c09d2132ae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开场介绍：这套培训面向项目经理和项目成员，讲解实际操作和项目推进过程。建议讲解约 35–45 分钟，并保留授权环境演示与问答时间。配套手册提供逐步操作和常见问题。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frontend/src/components/task/TaskManagementPanel.vue; backend/app/services/task_service.py; backend/app/services/status_sync_service.py</a:t>
            </a:r>
          </a:p>
          <a:p xmlns:a="http://schemas.openxmlformats.org/drawingml/2006/main">
            <a:r>
              <a:t>frontend/src/views/schedule/ScheduleBoardView.vue; frontend/src/components/schedule/ScheduleBookingDialog.vue; backend/app/services/schedule_service.py; backend/app/services/schedule_lifecycle_service.py</a:t>
            </a:r>
          </a:p>
          <a:p xmlns:a="http://schemas.openxmlformats.org/drawingml/2006/main">
            <a:r>
              <a:t>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先带用户认识全过程。项目经理组织工作，成员确认时间并执行，部门主管把关项目和资源。审批未通过时先处理审批，不应跳到预约或执行。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frontend/src/components/task/TaskManagementPanel.vue; backend/app/services/task_service.py; backend/app/services/status_sync_service.py</a:t>
            </a:r>
          </a:p>
          <a:p xmlns:a="http://schemas.openxmlformats.org/drawingml/2006/main">
            <a:r>
              <a:t>frontend/src/views/schedule/ScheduleBoardView.vue; frontend/src/components/schedule/ScheduleBookingDialog.vue; backend/app/services/schedule_service.py; backend/app/services/schedule_lifecycle_service.py</a:t>
            </a:r>
          </a:p>
          <a:p xmlns:a="http://schemas.openxmlformats.org/drawingml/2006/main">
            <a:r>
              <a:t>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项目经理可以查看本人负责或参与的项目，但只维护本人负责项目。项目成员可以查看相关项目任务，核心计划由负责人维护。多角色权限合并，仍受业务状态和归属限制。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依据：当前项目工作区（2026-10-07）。frontend/src/components/layout/AppHeader.vue; docs/ROLE_PERMISSION_GUIDE.md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特别说明待确认预约已预占项目和任务额度，但尚未公开占用人员时段。一个任务多名成员共享任务计划额度。实际工时来自执行，不能直接抄预算或预约总数。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frontend/src/components/task/TaskManagementPanel.vue; backend/app/services/task_service.py; backend/app/services/status_sync_service.py</a:t>
            </a:r>
          </a:p>
          <a:p xmlns:a="http://schemas.openxmlformats.org/drawingml/2006/main">
            <a:r>
              <a:t>frontend/src/views/schedule/ScheduleBoardView.vue; frontend/src/components/schedule/ScheduleBookingDialog.vue; backend/app/services/schedule_service.py; backend/app/services/schedule_lifecycle_service.py</a:t>
            </a:r>
          </a:p>
          <a:p xmlns:a="http://schemas.openxmlformats.org/drawingml/2006/main">
            <a:r>
              <a:t>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用员工号登录，不用姓名。新密码按表单规则填写，当前至少八位，两次输入一致。姓名与邮箱可修改，组织与角色问题联系管理员。不要在反馈中透露密码。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依据：当前项目工作区（2026-10-07）。frontend/src/components/layout/AppHeader.vue; docs/ROLE_PERMISSION_GUIDE.md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首页甘特图展示本人及递归直属下属相关已审批项目，和管理模块全量权限不同。任务点击打开详情，项目展开预览关键任务。首页没有列出的全部明细去对应业务模块查询。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依据：当前项目工作区（2026-10-07）。frontend/src/views/dashboard/DashboardView.vue; backend/app/services/dashboard_service.py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现场讲解时展示项目名称、初始成员、日期和总工时。项目经理自动计入项目，新建时还需选择至少一名初始成员。默认工时按工作日乘人数乘八小时估算，允许合理手动调整。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强调审批状态和业务状态是两个独立维度。待审批项目不能正常新增任务预约执行。审批拒绝后查看理由并修改重新提交。已逾期不是取消，仍需实际推进或合规延期。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先选项目后会显示项目周期，帮助设置任务日期。成员多选，任务日期按天，预计工时按半小时。普通成员不能编辑计划核心字段。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依据：当前项目工作区（2026-10-07）。frontend/src/components/task/TaskManagementPanel.vue; backend/app/services/task_service.py; backend/app/services/status_sync_service.py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父子层级不能重复计预算。顶级任务之和不超过项目，直接子任务之和不超过父任务。有子任务的汇总层不进行新预约和执行。进行中可按规则加子任务，但需满足关联数据保护。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依据：当前项目工作区（2026-10-07）。frontend/src/components/task/TaskManagementPanel.vue; backend/app/services/task_service.py; backend/app/services/status_sync_service.py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普通工作日每日总计八小时，上午三点五小时，下午四点五小时。午休不能计入预约。节假日依赖管理员维护的日历，不自动联网获取。只允许未来时段且在项目和任务计划日期内。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依据：当前项目工作区（2026-10-07）。frontend/src/views/schedule/ScheduleBoardView.vue; frontend/src/components/schedule/ScheduleBookingDialog.vue; backend/app/services/schedule_service.py; backend/app/services/schedule_lifecycle_service.py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成员必须同时是有效项目成员和所选末级任务成员。选择任务后人员候选随之变化。点击人员空白时段会自动带入该人。批量多人占用总额度乘人数。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依据：当前项目工作区（2026-10-07）。frontend/src/views/schedule/ScheduleBoardView.vue; frontend/src/components/schedule/ScheduleBookingDialog.vue; backend/app/services/schedule_service.py; backend/app/services/schedule_lifecycle_service.py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待确认不阻止别人提出竞争邀请，但各自消耗计划额度。普通其他项目经理看不到别人的待确认条目。确认一个会触发重叠待确认冲突处理。本人预约自动确认适用于有权限的本人任务，不仅限经理本人。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依据：当前项目工作区（2026-10-07）。frontend/src/views/schedule/ScheduleBoardView.vue; frontend/src/components/schedule/ScheduleBookingDialog.vue; backend/app/services/schedule_service.py; backend/app/services/schedule_lifecycle_service.py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本人已确认预约撤回要求未开始、未产生相关正常执行且项目未结束。发起人可以撤回自己的待确认预约。拖动不是更换人员，移动他人预约后需重新确认。操作后核对实际状态。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依据：当前项目工作区（2026-10-07）。frontend/src/views/schedule/ScheduleBoardView.vue; frontend/src/components/schedule/ScheduleBookingDialog.vue; backend/app/services/schedule_service.py; backend/app/services/schedule_lifecycle_service.py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个人安排用于标记系统内时间占用，不代替公司 HR 请假流程，不自动生成项目实际工时。已存在有效工作安排时需协调，不能用个人安排覆盖。撤回释放时间。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依据：当前项目工作区（2026-10-07）。frontend/src/views/schedule/ScheduleBoardView.vue; frontend/src/components/schedule/ScheduleBookingDialog.vue; backend/app/services/schedule_service.py; backend/app/services/schedule_lifecycle_service.py</a:t>
            </a:r>
          </a:p>
          <a:p xmlns:a="http://schemas.openxmlformats.org/drawingml/2006/main">
            <a:r>
              <a:t>backend/app/services/personal_time_service.py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选择实际日期范围内有本人同任务的已确认预约。任务必须是本人末级任务。实际日期不可未来。已完成要求结束日期与实际工时。普通实际工时受所选工作日容量上限约束，实际与预约不必相等。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最新记录决定末级任务状态，工时累计所有有效记录。第二条填本次增量不是累计总数。修正用编辑，重复新增会多计。进行中留空自动算日容量，建议明填真实小时。多人任务完成前需统一核对。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依据：当前项目工作区（2026-10-07）。frontend/src/views/execution/ExecutionView.vue; backend/app/services/execution_service.py</a:t>
            </a:r>
          </a:p>
          <a:p xmlns:a="http://schemas.openxmlformats.org/drawingml/2006/main">
            <a:r>
              <a:t>frontend/src/components/task/TaskManagementPanel.vue; backend/app/services/task_service.py; backend/app/services/status_sync_service.py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首页甘特图可展开、悬停、点任务详情，不能直接用来改预约。趋势计划来自有效普通预约，实际来自执行且包含已填报加班。用一致人员项目时间范围比较，预算和趋势不是同一个口径。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依据：当前项目工作区（2026-10-07）。frontend/src/views/dashboard/DashboardView.vue; backend/app/services/dashboard_service.py</a:t>
            </a:r>
          </a:p>
          <a:p xmlns:a="http://schemas.openxmlformats.org/drawingml/2006/main">
            <a:r>
              <a:t>frontend/src/views/report/ProcessReportView.vue; docs/ROLE_PERMISSION_GUIDE.md</a:t>
            </a:r>
          </a:p>
          <a:p xmlns:a="http://schemas.openxmlformats.org/drawingml/2006/main">
            <a:r>
              <a:t>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成员新增移除和工时申请合并，一个申请可同时处理。基本名称描述通常直接编辑。审批列表会显示人员姓名和工号。不能移除项目经理，有业务依赖先处理。待审批本人可撤回，审批完成不能撤回。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新日期须晚于原结束日且不早于今天。默认追加工时只计算新增日期，用变更后有效成员人数含经理去重，可手动调整但正数必填。批准项目延期不应自动假定所有任务也延期，需单独调整具体任务日期。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frontend/src/composables/usePlannedHours.ts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未来非工作时段申请、原因必填，时段须在任务计划内、半小时单位、跨日拆单。审批人在开始前批准。结束后申请人填报，不显示普通预约表。批准工时不直接计实际。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依据：当前项目工作区（2026-10-07）。docs/OVERTIME.md; backend/app/services/overtime_service.py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完成前核对所有任务和未处理加班，确认完整填报，结案后业务锁定。所有任务完成只是提示，保留补充任务空间。评价每项目一次，不逐任务。部门主管超管也有相应权限，但培训重点项目负责人。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frontend/src/views/report/ProcessReportView.vue; docs/ROLE_PERMISSION_GUIDE.md</a:t>
            </a:r>
          </a:p>
          <a:p xmlns:a="http://schemas.openxmlformats.org/drawingml/2006/main">
            <a:r>
              <a:t>docs/OVERTIME.md; backend/app/services/overtime_service.py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人员级联多选可以不同部门不同人。项目管理人员筛选按项目经理维度。通知标已读不做业务审批，撤回后的旧通知可能仍存在。邮件是否可用取决管理员开关配置和邮箱有效，普通用户不用配置邮件服务器。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依据：当前项目工作区（2026-10-07）。frontend/src/components/layout/AppHeader.vue; docs/ROLE_PERMISSION_GUIDE.md</a:t>
            </a:r>
          </a:p>
          <a:p xmlns:a="http://schemas.openxmlformats.org/drawingml/2006/main">
            <a:r>
              <a:t>frontend/src/components/common/PersonnelScopeCascader.vue</a:t>
            </a:r>
          </a:p>
          <a:p xmlns:a="http://schemas.openxmlformats.org/drawingml/2006/main">
            <a:r>
              <a:t>frontend/src/views/notification/NotificationCenterView.vue</a:t>
            </a:r>
          </a:p>
          <a:p xmlns:a="http://schemas.openxmlformats.org/drawingml/2006/main">
            <a:r>
              <a:t>docs/EMAIL_SETUP.md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不要承诺用户遇错可通过管理员任意绕过。先核实审批、归属、工时与时间。默认成员无过程报表导出权限。若服务器故障保存结果不明先查列表，避免重复。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frontend/src/components/task/TaskManagementPanel.vue; backend/app/services/task_service.py; backend/app/services/status_sync_service.py</a:t>
            </a:r>
          </a:p>
          <a:p xmlns:a="http://schemas.openxmlformats.org/drawingml/2006/main">
            <a:r>
              <a:t>frontend/src/views/schedule/ScheduleBoardView.vue; frontend/src/components/schedule/ScheduleBookingDialog.vue; backend/app/services/schedule_service.py; backend/app/services/schedule_lifecycle_service.py</a:t>
            </a:r>
          </a:p>
          <a:p xmlns:a="http://schemas.openxmlformats.org/drawingml/2006/main">
            <a:r>
              <a:t>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讲师可在授权测试环境演示。实际日期不能未来，不为了演练绕过校验。今天演示未来预约，实际执行应在工作发生之后。若做现场全程演示，使用提前准备且真实发生的测试记录，不篡改生产数据。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frontend/src/components/task/TaskManagementPanel.vue; backend/app/services/task_service.py; backend/app/services/status_sync_service.py</a:t>
            </a:r>
          </a:p>
          <a:p xmlns:a="http://schemas.openxmlformats.org/drawingml/2006/main">
            <a:r>
              <a:t>frontend/src/views/schedule/ScheduleBoardView.vue; frontend/src/components/schedule/ScheduleBookingDialog.vue; backend/app/services/schedule_service.py; backend/app/services/schedule_lifecycle_service.py</a:t>
            </a:r>
          </a:p>
          <a:p xmlns:a="http://schemas.openxmlformats.org/drawingml/2006/main">
            <a:r>
              <a:t>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结束时让项目经理和成员分别复述自己的流程。重点追问：标已读是否等于同意，实际工时填增量还是总量，项目是否自动结束。答案分别为否、增量、否。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依据：当前项目工作区（2026-10-07）。frontend/src/views/project/ProjectView.vue; frontend/src/views/project/ProjectDetailView.vue; backend/app/services/project_service.py</a:t>
            </a:r>
          </a:p>
          <a:p xmlns:a="http://schemas.openxmlformats.org/drawingml/2006/main">
            <a:r>
              <a:t>frontend/src/components/task/TaskManagementPanel.vue; backend/app/services/task_service.py; backend/app/services/status_sync_service.py</a:t>
            </a:r>
          </a:p>
          <a:p xmlns:a="http://schemas.openxmlformats.org/drawingml/2006/main">
            <a:r>
              <a:t>frontend/src/views/schedule/ScheduleBoardView.vue; frontend/src/components/schedule/ScheduleBookingDialog.vue; backend/app/services/schedule_service.py; backend/app/services/schedule_lifecycle_service.py</a:t>
            </a:r>
          </a:p>
          <a:p xmlns:a="http://schemas.openxmlformats.org/drawingml/2006/main">
            <a:r>
              <a:t>frontend/src/views/execution/ExecutionView.vue; backend/app/services/execution_service.py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305c0579e41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c406db75df4ed4" /><Relationship Type="http://schemas.openxmlformats.org/officeDocument/2006/relationships/slideLayout" Target="/ppt/slideLayouts/slideLayout1.xml" Id="R34fbea877a8045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fbea877a8045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4fd21ba2d4dca" /><Relationship Type="http://schemas.openxmlformats.org/officeDocument/2006/relationships/notesSlide" Target="/ppt/notesSlides/notesSlide1.xml" Id="R02d538040eb648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f8fe625334919" /><Relationship Type="http://schemas.openxmlformats.org/officeDocument/2006/relationships/notesSlide" Target="/ppt/notesSlides/notesSlide2.xml" Id="Rbe37e5d006494e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81aa0f3844238" /><Relationship Type="http://schemas.openxmlformats.org/officeDocument/2006/relationships/notesSlide" Target="/ppt/notesSlides/notesSlide3.xml" Id="R487e2e82e80c48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31004de5c4da6" /><Relationship Type="http://schemas.openxmlformats.org/officeDocument/2006/relationships/notesSlide" Target="/ppt/notesSlides/notesSlide4.xml" Id="R7f931c70c2b342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d6dadeda842d6" /><Relationship Type="http://schemas.openxmlformats.org/officeDocument/2006/relationships/notesSlide" Target="/ppt/notesSlides/notesSlide5.xml" Id="R62e061affd0944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4d75071554104" /><Relationship Type="http://schemas.openxmlformats.org/officeDocument/2006/relationships/notesSlide" Target="/ppt/notesSlides/notesSlide6.xml" Id="R7dcc88ec497340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62b0be4743fe" /><Relationship Type="http://schemas.openxmlformats.org/officeDocument/2006/relationships/notesSlide" Target="/ppt/notesSlides/notesSlide7.xml" Id="Rc3c6cd9cb6384e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97c1102664833" /><Relationship Type="http://schemas.openxmlformats.org/officeDocument/2006/relationships/notesSlide" Target="/ppt/notesSlides/notesSlide8.xml" Id="R2d776a20f336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c8b846cc24228" /><Relationship Type="http://schemas.openxmlformats.org/officeDocument/2006/relationships/notesSlide" Target="/ppt/notesSlides/notesSlide9.xml" Id="R93813fd9c5e746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a01eda6e240f0" /><Relationship Type="http://schemas.openxmlformats.org/officeDocument/2006/relationships/notesSlide" Target="/ppt/notesSlides/notesSlide10.xml" Id="Rab5952ae509a45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ad80d664f48f1" /><Relationship Type="http://schemas.openxmlformats.org/officeDocument/2006/relationships/notesSlide" Target="/ppt/notesSlides/notesSlide11.xml" Id="R150dfd6d502f4d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30483980149ee" /><Relationship Type="http://schemas.openxmlformats.org/officeDocument/2006/relationships/notesSlide" Target="/ppt/notesSlides/notesSlide12.xml" Id="R6601a366844841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f1575c7fe4ff8" /><Relationship Type="http://schemas.openxmlformats.org/officeDocument/2006/relationships/notesSlide" Target="/ppt/notesSlides/notesSlide13.xml" Id="Rf93068286cf64c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d8b424a654df9" /><Relationship Type="http://schemas.openxmlformats.org/officeDocument/2006/relationships/notesSlide" Target="/ppt/notesSlides/notesSlide14.xml" Id="R9993a4eae2ce4d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59ce2e45045f2" /><Relationship Type="http://schemas.openxmlformats.org/officeDocument/2006/relationships/notesSlide" Target="/ppt/notesSlides/notesSlide15.xml" Id="R702068913ac648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8983943ee4fa4" /><Relationship Type="http://schemas.openxmlformats.org/officeDocument/2006/relationships/notesSlide" Target="/ppt/notesSlides/notesSlide16.xml" Id="Re17371e44b414f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82b85c04843da" /><Relationship Type="http://schemas.openxmlformats.org/officeDocument/2006/relationships/notesSlide" Target="/ppt/notesSlides/notesSlide17.xml" Id="R56f2b4956bf24c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10ab0b97b4a28" /><Relationship Type="http://schemas.openxmlformats.org/officeDocument/2006/relationships/notesSlide" Target="/ppt/notesSlides/notesSlide18.xml" Id="R59cfc783424348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7736f951a46e2" /><Relationship Type="http://schemas.openxmlformats.org/officeDocument/2006/relationships/notesSlide" Target="/ppt/notesSlides/notesSlide19.xml" Id="Re5030d04ca8e45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dd2504e3342bd" /><Relationship Type="http://schemas.openxmlformats.org/officeDocument/2006/relationships/notesSlide" Target="/ppt/notesSlides/notesSlide20.xml" Id="R6a59129511ae44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6509265b84abb" /><Relationship Type="http://schemas.openxmlformats.org/officeDocument/2006/relationships/notesSlide" Target="/ppt/notesSlides/notesSlide21.xml" Id="Rddc4cd9ec21a4f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a0e03846b4e8f" /><Relationship Type="http://schemas.openxmlformats.org/officeDocument/2006/relationships/notesSlide" Target="/ppt/notesSlides/notesSlide22.xml" Id="R7019c409f43a4fd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a3cf0439b4658" /><Relationship Type="http://schemas.openxmlformats.org/officeDocument/2006/relationships/notesSlide" Target="/ppt/notesSlides/notesSlide23.xml" Id="Ra3baf1d412b943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8dc58ce0b4334" /><Relationship Type="http://schemas.openxmlformats.org/officeDocument/2006/relationships/notesSlide" Target="/ppt/notesSlides/notesSlide24.xml" Id="R35e908bc3d4a4ec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8a2753d0b4576" /><Relationship Type="http://schemas.openxmlformats.org/officeDocument/2006/relationships/notesSlide" Target="/ppt/notesSlides/notesSlide25.xml" Id="R03c07cfc4aab44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de84cc6324291" /><Relationship Type="http://schemas.openxmlformats.org/officeDocument/2006/relationships/notesSlide" Target="/ppt/notesSlides/notesSlide26.xml" Id="R28b6676f04cb4f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E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9F84B-81DA-4A2E-8245-AE25B9EF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44038-50BC-47DC-968F-EAE18C92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56479-5D25-46E9-BACD-CACFC475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用户使用培训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1A724-9F0D-4EBE-B6D9-F1195FF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rPr>
              <a:t>项目经理与项目成员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3F8D0-A1C1-43D5-A823-E79983AB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rPr>
              <a:t>项目计划、任务安排、工时执行与项目收尾</a:t>
            </a:r>
          </a:p>
        </p:txBody>
      </p:sp>
    </p:spTree>
    <p:extLst>
      <p:ext uri="{BB962C8B-B14F-4D97-AF65-F5344CB8AC3E}">
        <p14:creationId xmlns:p14="http://schemas.microsoft.com/office/powerpoint/2010/main" val="1029280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1D0C3-27F6-4C15-9C3F-FA0EEB23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项目推进的完整流程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34743-258B-4F45-BAA7-BB8A9740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每一步都有明确的操作者和结果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24220-C712-4007-9E34-D9ADF8BC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57375"/>
                <a:gridCol w="2667000"/>
                <a:gridCol w="6296025"/>
              </a:tblGrid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操作者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在系统中完成什么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建立项目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项目经理、部门主管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创建计划与成员，完成项目审批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分解任务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项目经理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拆分任务，指定成员和计划工时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安排时间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项目经理、任务成员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预约具体时段，由被预约人确认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执行与调整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成员、项目经理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填报实际，按需申请资源或加班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项目收尾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手动确认项目完成，再进行评价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18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9308D-9C9B-4B63-BA8F-3BE6FC67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项目经理与项目成员的分工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DBE9E-785F-44BC-A8E5-86779FEF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能看见数据，不一定能修改数据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2C847-F08D-4761-A93B-A8B57DB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4686C-F4EB-4017-A2C4-83BE34DF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项目经理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4CD59-868D-4F29-B1AF-6F922E0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5010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建立项目计划，分配任务和成员。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预约时间，跟进执行和工时。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提出资源变更，完成项目收尾。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DF50E-81F8-4BBC-9A0A-DF424588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010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可查看负责项目的成员执行记录。</a:t>
            </a:r>
          </a:p>
          <a:p xmlns:a="http://schemas.openxmlformats.org/drawingml/2006/main">
            <a:pPr>
              <a:def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项目经理身份不允许代改他人记录。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BD1F1-731B-4D36-8349-A856524E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项目成员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49DAA-9590-4806-8454-D9D35DF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5010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查看相关项目和任务。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确认预约，安排本人日程。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填报自己的执行记录和加班。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F6302-B8B3-4B0D-AFDA-EEEB0995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5010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可维护本人任务备注和执行数据。</a:t>
            </a:r>
          </a:p>
          <a:p xmlns:a="http://schemas.openxmlformats.org/drawingml/2006/main">
            <a:pPr>
              <a:def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日期、成员与计划工时由负责人维护。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BF40E-F0C1-46AA-84A2-FFC50178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部门主管负责所属部门的项目与资源审批。</a:t>
            </a:r>
          </a:p>
        </p:txBody>
      </p:sp>
    </p:spTree>
    <p:extLst>
      <p:ext uri="{BB962C8B-B14F-4D97-AF65-F5344CB8AC3E}">
        <p14:creationId xmlns:p14="http://schemas.microsoft.com/office/powerpoint/2010/main" val="2062747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9E255-4D20-48CF-9C8C-3C35765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工时的四种含义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83766-E5AD-4FF3-8960-E2FF5DE8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项目额度、任务额度、预约与实际分别记录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146A-0A4A-47CE-9B67-91036E5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857750"/>
                <a:gridCol w="33909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变化来源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项目总工时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经审批的项目计划额度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创建审批、资源申请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任务计划工时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具体任务可分配的额度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负责人拆分任务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预约工时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某人某时段的安排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按时段自动计算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实际工时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实际完成并填报的工作量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有效执行记录累计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6C48B-155D-4F40-9AB7-45C6EFA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例如两人各预约 2h，总占用是 4h。</a:t>
            </a:r>
          </a:p>
        </p:txBody>
      </p:sp>
    </p:spTree>
    <p:extLst>
      <p:ext uri="{BB962C8B-B14F-4D97-AF65-F5344CB8AC3E}">
        <p14:creationId xmlns:p14="http://schemas.microsoft.com/office/powerpoint/2010/main" val="1520303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35068-70BB-44D4-B693-49F4A82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登录与个人设置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842F2-2BEB-460A-B84A-A8589491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右上角姓名或头像是个人设置入口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941B7-5BA7-4893-BD15-BB76A7E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F550B-34A1-482F-B44F-DD5BB93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B5637-706B-4A96-B111-BBCD0349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使用管理员提供的地址、员工号和初始密码。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CBA7C-C152-412E-8DDC-DD71AC3F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修改登录密码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6B0FE-8CD6-4661-9BB3-5B57EF7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点击右上角姓名或头像，填写原密码、新密码和确认密码。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D52F0-8E66-4982-967C-B73B3095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修改个人资料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392E0-644C-4164-8BC8-2BD8AA8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核对姓名、邮箱。部门、组织、直属主管和角色由管理员维护。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672AB-16D0-43F2-903F-6C9385E8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菜单和按钮按权限显示。账号被禁用或忘记密码，请联系管理员。</a:t>
            </a:r>
          </a:p>
        </p:txBody>
      </p:sp>
    </p:spTree>
    <p:extLst>
      <p:ext uri="{BB962C8B-B14F-4D97-AF65-F5344CB8AC3E}">
        <p14:creationId xmlns:p14="http://schemas.microsoft.com/office/powerpoint/2010/main" val="1723719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6364C-0E56-4F34-9586-D95D7E0F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首页的阅读顺序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9274B-B52A-4A54-A8BE-5BDD11A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先处理待办，再查看项目执行情况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576CA-7DDC-414A-A403-0ED0C880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714875"/>
                <a:gridCol w="4010025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怎么使用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顶部概览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待办、项目、完成率、关注项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快速判断当前情况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待办与今日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待处理事项、今日日程、风险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打开详情办理或协调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项目进度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健康度、可展开的甘特图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看计划与实际日期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执行分析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计划与实际、工时趋势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定位工时偏差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1D9E-266B-4877-8567-417C612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首页项目范围：本人及直属下属相关项目。更多明细进入业务列表。</a:t>
            </a:r>
          </a:p>
        </p:txBody>
      </p:sp>
    </p:spTree>
    <p:extLst>
      <p:ext uri="{BB962C8B-B14F-4D97-AF65-F5344CB8AC3E}">
        <p14:creationId xmlns:p14="http://schemas.microsoft.com/office/powerpoint/2010/main" val="1692784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E0CCD-4BA9-44B1-81B0-3DE92B6F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新建项目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23C87-3148-4AE9-BA1E-D13EBA53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入口：项目管理 / 新建项目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3E45E-DF8E-4497-841E-1812E86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E6206-A0B9-46CC-AF4F-B2DAF16F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基本信息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EFF16-F930-4E49-BEB6-F205A4D3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填写名称，核对项目经理与所属部门。编号保存后自动生成。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84566-A084-4426-8E63-6BD37FE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日期与人员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43372-1774-43DE-8907-47C4CF08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按部门、组织多选初始成员，填写计划开始和结束日期。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FB229-75ED-44CC-B561-9DC129E6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工时与提交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1A75D-D2F5-4421-86D7-0D996EDA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核对自动估算工时，填写说明，点击“保存并提交审批”。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4AB5D-5FFB-4D23-A20A-ABA53837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资料未准备好可“保存草稿”，准备好后再“提交审批”。</a:t>
            </a:r>
          </a:p>
        </p:txBody>
      </p:sp>
    </p:spTree>
    <p:extLst>
      <p:ext uri="{BB962C8B-B14F-4D97-AF65-F5344CB8AC3E}">
        <p14:creationId xmlns:p14="http://schemas.microsoft.com/office/powerpoint/2010/main" val="1254658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0D5B1-3C46-4985-9E7C-E9A972F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项目审批与项目状态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F7A68-C57B-446D-83EC-29C4FA9F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所有项目都需要所属部门主管审批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699D8-9366-462C-8C07-FE20B132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2C74D-3F3D-4A43-B819-6FD878C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审批状态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BC97E-C1FC-4F20-B6D8-943B55D4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5010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待部门主管审批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已审批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已驳回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D843B-F6D7-4E3E-893C-EDE1EF8B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010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审批通过后，才能安排任务、预约和执行。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05851-7F07-4712-9828-BD37E367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项目业务状态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EF7F1-096F-4D34-BBA5-FAE7194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5010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已逾期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3E321-DA6B-4BCE-BC0E-E74FE868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5010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全部任务完成后，</a:t>
            </a:r>
          </a:p>
          <a:p xmlns:a="http://schemas.openxmlformats.org/drawingml/2006/main">
            <a:pPr>
              <a:def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负责人还需手动确认项目完成。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4F73C-9F46-4864-8CA8-3D21B0E0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未配置有效部门主管时，请管理员完善配置后再提交。</a:t>
            </a:r>
          </a:p>
        </p:txBody>
      </p:sp>
    </p:spTree>
    <p:extLst>
      <p:ext uri="{BB962C8B-B14F-4D97-AF65-F5344CB8AC3E}">
        <p14:creationId xmlns:p14="http://schemas.microsoft.com/office/powerpoint/2010/main" val="2017597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D8026-CECE-4D42-BCBF-D84648BB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新增任务与分配成员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DB787-B02E-44DA-9FDD-029A25B1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入口：任务管理 / 新增任务，或项目详情 / 项目任务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DF6A5-70BB-4A1B-9CD9-96C203A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657B7-3486-4DB5-819B-3601A76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选择项目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994DC-1925-42F6-9DA5-383891F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选择自己有权管理的已审批项目，查看项目计划周期。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E7C61-D9A5-47F7-8D99-A83FFBDE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定义任务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2FC8C-0C1B-4FBD-BEE1-6A300FA3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填写名称，选择项目成员，需要分解时选择父任务。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75418-12FE-4BAB-A2C4-6AD7C451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设置计划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E4F24-8D4A-4E9D-BE1E-11EA7432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填写计划日期和计划工时，保存任务。工时按 0.5h 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28700-1288-4DFD-BF39-880083C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任务日期须在项目内，子任务日期和成员须在父任务范围内。</a:t>
            </a:r>
          </a:p>
        </p:txBody>
      </p:sp>
    </p:spTree>
    <p:extLst>
      <p:ext uri="{BB962C8B-B14F-4D97-AF65-F5344CB8AC3E}">
        <p14:creationId xmlns:p14="http://schemas.microsoft.com/office/powerpoint/2010/main" val="1474938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28D1F-6EF2-42F5-AD97-C08CEB5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多级任务与工时分配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C43A7-5926-41F2-A722-82519BBA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教学示例：项目总工时 80h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BAB24-885D-4D6C-A5E2-1439D12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5867400"/>
                <a:gridCol w="2476500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任务名称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计划工时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顶级任务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48h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开发的子任务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接口开发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24h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开发的子任务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页面开发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24h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顶级任务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联调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32h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37EC8-E4E6-4FC6-9336-9B7146E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顶级任务合计 80h，开发子任务合计 48h。预约与执行落在末级任务。</a:t>
            </a:r>
          </a:p>
        </p:txBody>
      </p:sp>
    </p:spTree>
    <p:extLst>
      <p:ext uri="{BB962C8B-B14F-4D97-AF65-F5344CB8AC3E}">
        <p14:creationId xmlns:p14="http://schemas.microsoft.com/office/powerpoint/2010/main" val="1388373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03B9D-DB92-45CB-8E17-ED0114E6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正常预约的时间范围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E653E-DCB2-420F-85D4-1312B814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工作日历决定假日与调休，所有时间按北京时间处理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D6676-4037-42F8-A35A-0890C91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0D434-8924-44EF-AE51-9E0D478B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08:30–12:00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4C8-F3ED-4B17-9C11-04BBB71E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512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3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37B78"/>
                </a:solidFill>
                <a:latin typeface="Microsoft YaHei"/>
                <a:ea typeface="Microsoft YaHei"/>
                <a:cs typeface="Microsoft YaHei"/>
              </a:rPr>
              <a:t>13:00–17:30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4FE87-F79A-460E-83D4-3D6F38C4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上午工作时段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A2621-123E-461F-9AA9-E7C7A2E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512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下午工作时段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9D74B-C3BE-40B0-929A-A59A7C16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按 0.5h 选择。上午和下午分开预约。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4BC05-775D-4D52-9798-FF0537CA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不能预约过去时间、午休、非工作日，或已被有效安排占用的时段。</a:t>
            </a:r>
          </a:p>
        </p:txBody>
      </p:sp>
    </p:spTree>
    <p:extLst>
      <p:ext uri="{BB962C8B-B14F-4D97-AF65-F5344CB8AC3E}">
        <p14:creationId xmlns:p14="http://schemas.microsoft.com/office/powerpoint/2010/main" val="1290160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7D30A-1D38-4208-852C-BE714916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单人预约与批量预约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FF3ED-1C3E-43D3-92A8-C2F29D5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入口：任务共享看板 / 预约人力 或 批量预约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88174-DCD6-44BE-8F97-9A3EBAC1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17640-D66F-4930-AA7E-726E2B6F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选项目与任务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F6497-B6AE-4410-9632-450673EA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选已审批、未结束项目，再选具体末级任务，核对周期与工时。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2DD4A-E79D-46DE-BDD8-9D55E46B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选任务成员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33919-3FB2-4E84-9EC1-19263E25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人员仅来自所选任务。批量预约可多选这些成员。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29D85-A426-4140-953B-878B8BA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选时间并预约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99069-41A4-4828-85F9-712C54A3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填写日期、上午或下午和起止时间，检查自动工时后点击“预约”。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4C76F-E727-4D45-A87E-578B8859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两人各预约 1h，共占用 2h。待确认也预占任务与项目额度。</a:t>
            </a:r>
          </a:p>
        </p:txBody>
      </p:sp>
    </p:spTree>
    <p:extLst>
      <p:ext uri="{BB962C8B-B14F-4D97-AF65-F5344CB8AC3E}">
        <p14:creationId xmlns:p14="http://schemas.microsoft.com/office/powerpoint/2010/main" val="6725200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20F3C-24C0-4B01-99DE-965F1F26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预约确认与竞争预约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3780C-8435-406C-B8F2-3609F8F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项目经理预约他人后，由被预约人本人决定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38063-BA34-45BA-B42D-60810CBE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7867650"/>
              </a:tblGrid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用户操作或系统结果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收到预约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首页待办或预约详情，核对人、项目、任务和时段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能够履约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点击“本人同意”，预约成为有效工作安排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不能履约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点击“本人拒绝”，填写原因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自己预约自己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本人被分配任务的预约自动确认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同一时段多条待确认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接受一条后，系统拒绝重叠的竞争待确认预约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C9EDC-37C6-4844-A271-36142C7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到预约结束仍未确认，系统会自动取消。请及时处理待办。</a:t>
            </a:r>
          </a:p>
        </p:txBody>
      </p:sp>
    </p:spTree>
    <p:extLst>
      <p:ext uri="{BB962C8B-B14F-4D97-AF65-F5344CB8AC3E}">
        <p14:creationId xmlns:p14="http://schemas.microsoft.com/office/powerpoint/2010/main" val="11107963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9793F-30EB-4167-9951-DFDBDC1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改期和撤回预约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56158-210E-4932-AB10-2D70BE4D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入口：预约详情，或看板“我的项目预约”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4E00C-C878-426E-975B-26A7D9B5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50B77-4296-4E16-941D-935AD1C7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改期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2EAF9-7FCC-42A0-88A8-C1945A9D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有权限时编辑或拖动预约条中间。为他人改期后需重新确认。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F1D44-1725-4CCD-8581-9A75789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撤回待确认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DDC66-8A15-4862-9FF9-60B021D4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本人发出的待确认预约，在详情点击“撤回预约”。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24357-24F9-4014-A41E-668AB3C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撤回已确认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765C7-1734-4636-89B4-5084049E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被预约人可撤回本人尚未开始、无关联执行记录的预约。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7BABC-0CEF-4F9F-BA52-78C796F7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已开始、已执行或项目已结束时，先联系负责人核对记录。</a:t>
            </a:r>
          </a:p>
        </p:txBody>
      </p:sp>
    </p:spTree>
    <p:extLst>
      <p:ext uri="{BB962C8B-B14F-4D97-AF65-F5344CB8AC3E}">
        <p14:creationId xmlns:p14="http://schemas.microsoft.com/office/powerpoint/2010/main" val="947707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3F085-82ED-4048-835B-94AFD223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个人时间安排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EF445-C764-4BD4-A24B-F90F73B0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入口：任务共享看板 / 我的时间安排 / 新增安排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391AB-18FB-4B6D-96FE-202F924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9AFC8-F0FA-465C-8E40-76E6C268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记录安排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D14C1-8CC3-4EC8-AE68-3FA2707F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选择培训、会议、休假、外出等类型，填写起止时间和说明。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ED961-67DE-463A-8251-F4F2035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形成占用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0A0B3-3093-4846-9BD9-D1644817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生效中的个人安排会阻止其他人重复预约该时段。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9172B-4C03-429B-B893-121E515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取消安排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176FB-0391-439C-AF97-0C80620B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在安排列表或详情点击“撤回”，释放本人时间。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E804B-CD20-4892-A2E9-EEF64EA6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个人安排不自动计入项目实际工时，也不替代公司请假审批。</a:t>
            </a:r>
          </a:p>
        </p:txBody>
      </p:sp>
    </p:spTree>
    <p:extLst>
      <p:ext uri="{BB962C8B-B14F-4D97-AF65-F5344CB8AC3E}">
        <p14:creationId xmlns:p14="http://schemas.microsoft.com/office/powerpoint/2010/main" val="2383997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E9990-4BAE-4ABE-A2BD-99DEB865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填写任务执行记录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4C3AB-19C0-479C-99E6-CF53E5C9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入口：任务执行 / 执行记录 / 填写执行记录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DAEE8-7EB2-4836-8B31-9E51D59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AD7F5-E021-49F4-A895-1BB79FBF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填报前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56535-7342-4272-ABD8-306B62C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本人末级任务，项目已审批未结案，实际日期范围内有有效确认预约。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6DCDD-1C15-4CFB-A279-8CA4E24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ADF14-0653-448C-9883-385C5F1B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任务、进行中或已完成、实际起止日期、本次工时、执行说明。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6EF84-56F0-4918-8169-91E81BE6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保存后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D936C-6734-4CB3-9584-F8C9843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任务状态和实际工时联动更新，项目仍由负责人手动确认完成。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B1A5B-4F72-4D8E-80AC-7CB6F069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已完成必须填写实际结束日期和实际工时。工时按 0.5h 计。</a:t>
            </a:r>
          </a:p>
        </p:txBody>
      </p:sp>
    </p:spTree>
    <p:extLst>
      <p:ext uri="{BB962C8B-B14F-4D97-AF65-F5344CB8AC3E}">
        <p14:creationId xmlns:p14="http://schemas.microsoft.com/office/powerpoint/2010/main" val="11078614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30169-1E00-41B9-89F3-B4E93CB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执行记录的工时累计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A4DAA-27FD-426A-B05B-5A8127B0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教学示例：同一任务上午与下午分别填报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A9F84-2EF2-4F11-BFC5-642D8D0B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457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3695700"/>
                <a:gridCol w="3695700"/>
              </a:tblGrid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本次新增工时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任务累计实际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上午记录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2h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2h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下午记录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1.5h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3.5h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0389B-8A47-4116-AEF1-C24355F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修正原记录用“编辑”，新增记录只填写新增工作量。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7CA5F-750A-4D79-9A88-27FF7A1C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多人任务请先核对全部成员填报，再将任务标为“已完成”。</a:t>
            </a:r>
          </a:p>
        </p:txBody>
      </p:sp>
    </p:spTree>
    <p:extLst>
      <p:ext uri="{BB962C8B-B14F-4D97-AF65-F5344CB8AC3E}">
        <p14:creationId xmlns:p14="http://schemas.microsoft.com/office/powerpoint/2010/main" val="1856073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4308F-0FF0-403A-BEB5-98909DA9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计划与实际的对照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BAD3C-10AF-430C-AA53-B197367E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项目经理每天关注进度、工时偏差和执行说明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1D6E-E6D9-4E59-8F9B-33BA479B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F9D3-78A4-48F7-87CF-D058652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项目进度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11DAC-75B3-4581-AB89-7F188ECE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展开甘特图查看关键任务，对照计划与实际起止日期。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25FFF-9B45-40B6-A342-4267AE67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计划与实际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CE4F9-4C03-42AF-89DE-820982EB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比较任务预计和累计实际工时，点开详情了解偏差原因。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8E0ED-B15B-48E7-8220-BFA968C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工时趋势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E00FB-8838-4E83-A0C5-D90C214A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计划来自普通预约，实际来自执行记录，包含已填报加班。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F1583-0AEC-43AE-AF38-BBECF637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核对差异时使用相同的项目、人员与时间范围。</a:t>
            </a:r>
          </a:p>
        </p:txBody>
      </p:sp>
    </p:spTree>
    <p:extLst>
      <p:ext uri="{BB962C8B-B14F-4D97-AF65-F5344CB8AC3E}">
        <p14:creationId xmlns:p14="http://schemas.microsoft.com/office/powerpoint/2010/main" val="17035008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6DC85-69EB-42E4-8E99-C46D5F3E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项目资源申请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F472E-8053-4BA9-962D-0DD628C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入口：项目管理 / 项目名称 / 项目资源申请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13DDC-ECEE-4BCD-9ACF-6DD701D6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76625"/>
                <a:gridCol w="7343775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调整内容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填写要求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追加项目工时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填写追加量及申请原因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添加或移除成员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选择具体人员，检查关联任务与预约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项目延期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填写新结束日期、正数追加工时及原因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撤回未处理申请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资源申请列表中，仅本人待审批申请可撤回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8C497-E7CB-4467-B8DA-07C707A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部门主管批准后才生效。提交申请不会立即改变成员、预算或日期。</a:t>
            </a:r>
          </a:p>
        </p:txBody>
      </p:sp>
    </p:spTree>
    <p:extLst>
      <p:ext uri="{BB962C8B-B14F-4D97-AF65-F5344CB8AC3E}">
        <p14:creationId xmlns:p14="http://schemas.microsoft.com/office/powerpoint/2010/main" val="628143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87860-FB5C-48CB-A661-2D7A270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逾期项目的延期申请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40FAD-3066-43E1-92EF-72A27A58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当前入口面向已审批、未完成且已逾期项目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0DD5D-12CA-469F-976F-2C890CDE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6F757-64C4-4421-84A7-D184378B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新增工作日数 × 有效成员数 × 8h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B1A51-FBC4-4B28-8E66-D184C0AD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新增范围：原结束日次日起，至申请的新结束日。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812AE-3774-4FE4-8474-2C06547B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成员人数：本次变更后的有效成员，包含项目经理且去重。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6B09F-7AB1-4CCA-BBAD-F45206D9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核对默认追加量，可按实际需求修改。延期工时必须大于 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9472F-E1A1-40D8-9CA4-2A03A6CE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项目日期获批后，仍需按实际需要维护具体任务的计划日期。</a:t>
            </a:r>
          </a:p>
        </p:txBody>
      </p:sp>
    </p:spTree>
    <p:extLst>
      <p:ext uri="{BB962C8B-B14F-4D97-AF65-F5344CB8AC3E}">
        <p14:creationId xmlns:p14="http://schemas.microsoft.com/office/powerpoint/2010/main" val="12938383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16A00-4214-4CEA-9CBB-2A580061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加班申请与实际填报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98CE7-68DB-4401-BBC0-E755E289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入口：任务执行 / 加班申请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0A5C2-FBF6-4E21-8478-A0DA5F3E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76625"/>
                <a:gridCol w="7343775"/>
              </a:tblGrid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操作与审批规则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提出申请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选择本人任务、未来非工作时段，填写原因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成员申请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对应项目经理审批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经理申请本人负责项目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项目所属部门主管审批，禁止自审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结束后填报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在批准申请点击“填报执行”，实际不得超过批准工时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20061-E281-419F-B223-D335741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加班不进普通预约表。填报执行后才计入实际，请与正常工时分开。</a:t>
            </a:r>
          </a:p>
        </p:txBody>
      </p:sp>
    </p:spTree>
    <p:extLst>
      <p:ext uri="{BB962C8B-B14F-4D97-AF65-F5344CB8AC3E}">
        <p14:creationId xmlns:p14="http://schemas.microsoft.com/office/powerpoint/2010/main" val="13289283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7592A-4619-486F-B478-97AF4D7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项目完成与项目评价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53801-6C81-4C19-BA80-E9F0B881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入口：项目管理，以及项目过程报表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4C6C2-2658-4A1C-B9CC-0E53371F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4C6AE-3B86-4441-804A-76E9EAA4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核对收尾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37A0B-F987-46D7-8150-0BB0EBE9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全部任务完成，实际工时准确，相关申请和加班填报处理完毕。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217B3-1402-49D1-868D-EA29FA39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确认项目完成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CEAD2-02F7-4486-9676-CE6ED474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项目列表“确认完成”或详情“确认项目完成”，正式结束项目。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FC162-5B91-4054-AD56-842724A7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评价项目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48085-F36B-4FB1-8605-490DABDA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项目过程报表点击“评价项目”，填写并保存，显示“已完成评价”。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1A3E3-B86F-4DB1-B5D0-A6111E38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每个项目评价一次。项目结案前，请确认不再补任务或修改执行记录。</a:t>
            </a:r>
          </a:p>
        </p:txBody>
      </p:sp>
    </p:spTree>
    <p:extLst>
      <p:ext uri="{BB962C8B-B14F-4D97-AF65-F5344CB8AC3E}">
        <p14:creationId xmlns:p14="http://schemas.microsoft.com/office/powerpoint/2010/main" val="171742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CE382-1289-4259-81CD-F04F195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查询、通知与邮件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601E3-15E0-4C70-832C-D1F8992D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通知说明发生了什么，业务详情决定当前状态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457C2-EBB6-4EC1-B320-C0FEF57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1D021-4924-4747-9548-856DC74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CCD17-6226-40EA-9DC4-16683BF2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按部门、组织、人员多选，支持姓名或工号。只查权限内数据。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7E67A-BF32-49A8-946B-D465E6CB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通知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FA5C8-3447-4A5C-9E86-74AA371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861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右上角铃铛查看。已读仅改变阅读状态，处理事项要进入业务详情。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944B5-1342-409F-973C-00B631E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公司邮件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64345-50DA-481F-9C75-276A1F16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83724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管理员启用并配置邮箱后可同步通知。未收到邮件先查看站内待办。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6F32C-9A08-4A44-B7A6-9365854F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88"/>
                </a:solidFill>
                <a:latin typeface="Microsoft YaHei"/>
                <a:ea typeface="Microsoft YaHei"/>
                <a:cs typeface="Microsoft YaHei"/>
              </a:rPr>
              <a:t>反馈问题提供角色、项目任务、步骤和错误提示，不要提供密码。</a:t>
            </a:r>
          </a:p>
        </p:txBody>
      </p:sp>
    </p:spTree>
    <p:extLst>
      <p:ext uri="{BB962C8B-B14F-4D97-AF65-F5344CB8AC3E}">
        <p14:creationId xmlns:p14="http://schemas.microsoft.com/office/powerpoint/2010/main" val="17006283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ECA0C-C0C6-48E6-B588-2496D09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常见阻断与处理方法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111E5-26EC-4595-8316-A1E96314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按提示修正前置条件，避免重复提交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2A4B5-A9B6-4087-B831-A4EC2D48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76625"/>
                <a:gridCol w="7343775"/>
              </a:tblGrid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看得到但不能编辑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是否只是参与成员，项目是否待审批或已完成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预约人员列表没有某人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是否为有效项目成员，是否分配到该末级任务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工时不足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计划额度、待确认预占、单人工时乘人数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执行记录保存失败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本人任务、已确认预约、实际日期、0.5h 工时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全部任务完成但项目未完成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负责人是否手动点击“确认完成”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628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625FF-D10B-4955-9718-5D6F9D12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E42"/>
                </a:solidFill>
                <a:latin typeface="Microsoft YaHei"/>
                <a:ea typeface="Microsoft YaHei"/>
                <a:cs typeface="Microsoft YaHei"/>
              </a:rPr>
              <a:t>一轮完整的培训演练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EDF82-CA1B-4A3F-9CB0-10DA70CA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虚构示例，仅在获得授权的测试环境操作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7696B-A24E-4790-B744-4238DDD3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789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8582025"/>
              </a:tblGrid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操作者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演练内容</a:t>
                      </a:r>
                    </a:p>
                  </a:txBody>
                  <a:tcPr marL="152400" marR="152400" marT="95250" marB="95250" anchor="ctr">
                    <a:solidFill>
                      <a:srgbClr val="315F88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经理甲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 16h 的“培训演练项目”，指定成员乙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部门主管丙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审批项目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经理甲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 4h 末级任务，预约乙未来工作日 09:00–10:00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成员乙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从首页确认，工作实际发生后填写本次 1h</a:t>
                      </a:r>
                    </a:p>
                  </a:txBody>
                  <a:tcPr marL="152400" marR="152400" marT="95250" marB="95250" anchor="ctr">
                    <a:solidFill>
                      <a:srgbClr val="EDF2F6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经理甲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2E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实际工作全部结束后，核对、结案、评价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6280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92E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AFB11-DF76-4C1B-9E25-AD06F24A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每日操作清单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453A6-348E-404B-BD5F-A15FC55B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rPr>
              <a:t>详细路径与常见问题见配套《用户使用手册》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A759A-85EE-44A4-B7C4-5047990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8296A-B406-4C87-880F-8642B04F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项目经理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776D5-F2EC-46F5-82F1-9086761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0062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看待办与项目进度</a:t>
            </a:r>
          </a:p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查预约确认和执行说明</a:t>
            </a:r>
          </a:p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资源变化及时提交审批</a:t>
            </a:r>
          </a:p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核对收尾后手动结案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EFE33-1E2A-4388-B548-CF2262F9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FE6FC-BB1B-43A1-B17A-D0B88B1D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5124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看任务与今日日程</a:t>
            </a:r>
          </a:p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及时确认或拒绝预约</a:t>
            </a:r>
          </a:p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填报本次真实工时</a:t>
            </a:r>
          </a:p>
          <a:p xmlns:a="http://schemas.openxmlformats.org/drawingml/2006/main">
            <a:pPr>
              <a:def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E9F2"/>
                </a:solidFill>
                <a:latin typeface="Microsoft YaHei"/>
                <a:ea typeface="Microsoft YaHei"/>
                <a:cs typeface="Microsoft YaHei"/>
              </a:rPr>
              <a:t>非工作时间先申请加班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EBCCD-F2C5-409E-8761-A3152BD0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ED0DE"/>
                </a:solidFill>
                <a:latin typeface="Microsoft YaHei"/>
                <a:ea typeface="Microsoft YaHei"/>
                <a:cs typeface="Microsoft YaHei"/>
              </a:rPr>
              <a:t>问题讨论：我在哪里操作？需要谁确认？保存后什么会变化？</a:t>
            </a:r>
          </a:p>
        </p:txBody>
      </p:sp>
    </p:spTree>
    <p:extLst>
      <p:ext uri="{BB962C8B-B14F-4D97-AF65-F5344CB8AC3E}">
        <p14:creationId xmlns:p14="http://schemas.microsoft.com/office/powerpoint/2010/main" val="1076498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2026-10-07T04:29:50.2250000Z</dcterms:created>
  <dcterms:modified xsi:type="dcterms:W3CDTF">2026-10-07T04:29:50.2250000Z</dcterms:modified>
</coreProperties>
</file>